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platform revenue (₦)</c:v>
                </c:pt>
              </c:strCache>
            </c:strRef>
          </c:tx>
          <c:spPr>
            <a:solidFill>
              <a:srgbClr val="D9C2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 workspaces</c:v>
                  </c:pt>
                  <c:pt idx="1">
                    <c:v>30 workspaces</c:v>
                  </c:pt>
                  <c:pt idx="2">
                    <c:v>50 workspaces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1125000</c:v>
                </c:pt>
                <c:pt idx="1">
                  <c:v>3375000</c:v>
                </c:pt>
                <c:pt idx="2">
                  <c:v>5625000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C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C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71B"/>
        </a:solidFill>
        <a:ln>
          <a:noFill/>
        </a:ln>
        <a:effectLst/>
      </c:spPr>
    </c:plotArea>
    <c:plotVisOnly val="1"/>
    <c:dispBlanksAs val="span"/>
  </c:chart>
  <c:spPr>
    <a:solidFill>
      <a:srgbClr val="17171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82880"/>
            <a:ext cx="5669280" cy="5669280"/>
          </a:xfrm>
          <a:prstGeom prst="ellipse">
            <a:avLst/>
          </a:prstGeom>
          <a:solidFill>
            <a:srgbClr val="D9C28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78408"/>
            <a:ext cx="91440" cy="146304"/>
          </a:xfrm>
          <a:prstGeom prst="rect">
            <a:avLst/>
          </a:prstGeom>
          <a:solidFill>
            <a:srgbClr val="D9C28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" y="886968"/>
            <a:ext cx="91440" cy="237744"/>
          </a:xfrm>
          <a:prstGeom prst="rect">
            <a:avLst/>
          </a:prstGeom>
          <a:solidFill>
            <a:srgbClr val="D9C28C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777240"/>
            <a:ext cx="91440" cy="347472"/>
          </a:xfrm>
          <a:prstGeom prst="rect">
            <a:avLst/>
          </a:prstGeom>
          <a:solidFill>
            <a:srgbClr val="D9C28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KIMWAY TECH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1417320" cy="310896"/>
          </a:xfrm>
          <a:prstGeom prst="roundRect">
            <a:avLst>
              <a:gd name="adj" fmla="val 50000"/>
            </a:avLst>
          </a:prstGeom>
          <a:ln w="12700">
            <a:solidFill>
              <a:srgbClr val="D9C2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TradeHub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white-label operating system for trading influencers.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first. Africa next. Built for the world.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384048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577840"/>
            <a:ext cx="566928" cy="566928"/>
          </a:xfrm>
          <a:prstGeom prst="ellipse">
            <a:avLst/>
          </a:prstGeom>
          <a:solidFill>
            <a:srgbClr val="D9C28C">
              <a:alpha val="18000"/>
            </a:srgbClr>
          </a:solidFill>
          <a:ln w="15240">
            <a:solidFill>
              <a:srgbClr val="D9C2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5605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Kamaluddeen Suleiman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Co-Founder, KIMWAY TECH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03920" y="1234440"/>
            <a:ext cx="2834640" cy="2331720"/>
          </a:xfrm>
          <a:prstGeom prst="roundRect">
            <a:avLst>
              <a:gd name="adj" fmla="val 4706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228600" dist="762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0691" y="1560881"/>
            <a:ext cx="396850" cy="279806"/>
          </a:xfrm>
          <a:prstGeom prst="roundRect">
            <a:avLst>
              <a:gd name="adj" fmla="val 9804"/>
            </a:avLst>
          </a:prstGeom>
          <a:solidFill>
            <a:srgbClr val="D9C28C"/>
          </a:solidFill>
          <a:ln/>
        </p:spPr>
      </p:sp>
      <p:sp>
        <p:nvSpPr>
          <p:cNvPr id="18" name="Text 16"/>
          <p:cNvSpPr/>
          <p:nvPr/>
        </p:nvSpPr>
        <p:spPr>
          <a:xfrm>
            <a:off x="8730691" y="188732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30691" y="235366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Balance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0691" y="256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$24,812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730691" y="314645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$340 today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03920" y="371246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3785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13648" y="3968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66960" y="371246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76688" y="3785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TRADES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76688" y="3968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influencers are running real businesses on borrowed tools.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079346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47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go out over WhatsApp and Telegram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229514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structure, no delivery guarantee, and content leaks freely to non-payers.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3081528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3194914"/>
            <a:ext cx="340157" cy="3401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is manual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00200" y="341071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transfers, screenshots, and constant follow-up just to collect a subscription.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197096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310482"/>
            <a:ext cx="340157" cy="3401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178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student results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00200" y="4526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influencer has no idea which students are actually profitable — or churning.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5312664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5426050"/>
            <a:ext cx="340157" cy="3401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2943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professional credibility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600200" y="5641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signals group in a chat app doesn't look like the polished business it could be.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452360" y="196596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7724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we keep seeing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772400" y="26974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influencer builds a loyal audience, starts charging informally for signals, hits a ceiling because the systems can't scale — then either burns out managing chaos manually, or disappears entirely.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0" y="5120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ceiling is a tooling problem, not a talent problem.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white-label trading business, ready in 48 hours.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 gives every influencer their own fully-branded platform — their students never see TradeHub at all. Courses, trade signals, and a performance journal, running under the influencer's own name from day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3108960"/>
            <a:ext cx="640080" cy="64008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32369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4279392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YouTube-powered lessons with progress tracking, quizzes, and locked chapters — no branding leak.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7889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3108960"/>
            <a:ext cx="640080" cy="64008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32369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Signals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73168" y="4279392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as auto-copy for personal accounts, or safe manual alerts for prop firm accounts.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7889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3108960"/>
            <a:ext cx="640080" cy="64008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32369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Journal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30768" y="4279392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Auto-populated performance data, tagging, and a P&amp;L calendar — for student and influencer alike.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interfaces. One isolated workspace per influencer.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1965960"/>
            <a:ext cx="3246120" cy="4206240"/>
          </a:xfrm>
          <a:prstGeom prst="roundRect">
            <a:avLst>
              <a:gd name="adj" fmla="val 6197"/>
            </a:avLst>
          </a:prstGeom>
          <a:solidFill>
            <a:srgbClr val="000000"/>
          </a:solidFill>
          <a:ln w="25400">
            <a:solidFill>
              <a:srgbClr val="2A2A30"/>
            </a:solidFill>
            <a:prstDash val="solid"/>
          </a:ln>
          <a:effectLst>
            <a:outerShdw sx="100000" sy="100000" kx="0" ky="0" algn="bl" rotWithShape="0" blurRad="254000" dist="1016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075688"/>
            <a:ext cx="3026664" cy="3986784"/>
          </a:xfrm>
          <a:prstGeom prst="roundRect">
            <a:avLst>
              <a:gd name="adj" fmla="val 4834"/>
            </a:avLst>
          </a:prstGeom>
          <a:solidFill>
            <a:srgbClr val="17171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2585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8016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2608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D9C28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dashboard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438912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495604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5522976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5715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Balance, signals, journal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6008" y="1965960"/>
            <a:ext cx="3246120" cy="4206240"/>
          </a:xfrm>
          <a:prstGeom prst="roundRect">
            <a:avLst>
              <a:gd name="adj" fmla="val 6197"/>
            </a:avLst>
          </a:prstGeom>
          <a:solidFill>
            <a:srgbClr val="000000"/>
          </a:solidFill>
          <a:ln w="25400">
            <a:solidFill>
              <a:srgbClr val="2A2A30"/>
            </a:solidFill>
            <a:prstDash val="solid"/>
          </a:ln>
          <a:effectLst>
            <a:outerShdw sx="100000" sy="100000" kx="0" ky="0" algn="bl" rotWithShape="0" blurRad="254000" dist="101600" dir="27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2075688"/>
            <a:ext cx="3026664" cy="3986784"/>
          </a:xfrm>
          <a:prstGeom prst="roundRect">
            <a:avLst>
              <a:gd name="adj" fmla="val 4834"/>
            </a:avLst>
          </a:prstGeom>
          <a:solidFill>
            <a:srgbClr val="17171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0328" y="22585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0328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3208" y="292608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D9C28C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business control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10328" y="438912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0328" y="495604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5522976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715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revenue, signals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66176" y="1965960"/>
            <a:ext cx="3246120" cy="4206240"/>
          </a:xfrm>
          <a:prstGeom prst="roundRect">
            <a:avLst>
              <a:gd name="adj" fmla="val 6197"/>
            </a:avLst>
          </a:prstGeom>
          <a:solidFill>
            <a:srgbClr val="000000"/>
          </a:solidFill>
          <a:ln w="25400">
            <a:solidFill>
              <a:srgbClr val="2A2A30"/>
            </a:solidFill>
            <a:prstDash val="solid"/>
          </a:ln>
          <a:effectLst>
            <a:outerShdw sx="100000" sy="100000" kx="0" ky="0" algn="bl" rotWithShape="0" blurRad="254000" dist="101600" dir="27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75904" y="2075688"/>
            <a:ext cx="3026664" cy="3986784"/>
          </a:xfrm>
          <a:prstGeom prst="roundRect">
            <a:avLst>
              <a:gd name="adj" fmla="val 4834"/>
            </a:avLst>
          </a:prstGeom>
          <a:solidFill>
            <a:srgbClr val="17171B"/>
          </a:solidFill>
          <a:ln/>
        </p:spPr>
      </p:sp>
      <p:sp>
        <p:nvSpPr>
          <p:cNvPr id="28" name="Shape 26"/>
          <p:cNvSpPr/>
          <p:nvPr/>
        </p:nvSpPr>
        <p:spPr>
          <a:xfrm>
            <a:off x="8540496" y="22585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29" name="Text 27"/>
          <p:cNvSpPr/>
          <p:nvPr/>
        </p:nvSpPr>
        <p:spPr>
          <a:xfrm>
            <a:off x="8540496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0496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23376" y="292608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D9C28C"/>
          </a:solidFill>
          <a:ln/>
        </p:spPr>
      </p:sp>
      <p:sp>
        <p:nvSpPr>
          <p:cNvPr id="32" name="Text 30"/>
          <p:cNvSpPr/>
          <p:nvPr/>
        </p:nvSpPr>
        <p:spPr>
          <a:xfrm>
            <a:off x="8540496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oversight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40496" y="438912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0496" y="495604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0496" y="5522976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1F24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5715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workspaces, trust &amp; safety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checkout first, optional USDC second — with safer signal routing built 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Influencer onboards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36499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Branding, conduct, pricing, course draft, and rail readiness in one setup flow.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28600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49040" y="2103120"/>
            <a:ext cx="685800" cy="68580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2402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Students subscribe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657600" y="336499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Paystack by default, with optional approved USDC checkout for eligible workspaces.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8600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24028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8368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Signals go out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583680" y="336499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Auto-copy for personal accounts. Safe manual alerts for prop firm accounts.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286000"/>
            <a:ext cx="320040" cy="32004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601200" y="2103120"/>
            <a:ext cx="685800" cy="68580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0" y="2240280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50976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Access and settlement update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9509760" y="336499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Paystack verifies checkout. Solana verifies USDC payment and records the 90 / 10 settlement ledger.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822960" y="50292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7171B"/>
          </a:solidFill>
          <a:ln w="12700">
            <a:solidFill>
              <a:srgbClr val="D9C28C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1051560" y="5193792"/>
            <a:ext cx="548640" cy="54864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1288" y="5303520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783080" y="51206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</a:t>
            </a:r>
            <a:pPr indent="0" marL="0">
              <a:buNone/>
            </a:pPr>
            <a:r>
              <a:rPr lang="en-US" sz="12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prop firm Terms of Service ban auto-copied external signals. TradeHub is built to keep students compliant with their own funded accounts — not just plug in and hope.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when they earn. Nothing else.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48640" cy="54864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225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 fee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₦50,000 – ₦100,000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to influencer audience size. Covers full workspace build, branding, and onboarding.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212848"/>
            <a:ext cx="548640" cy="54864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3225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share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17804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of every payment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44652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automatically by Paystack Split at the point of transaction — no invoicing, no chasing.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model works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" y="4590288"/>
            <a:ext cx="201168" cy="201168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58425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70432" y="4572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barrier for influencers — they pay setup once, then only share what they actually earn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" y="5047488"/>
            <a:ext cx="201168" cy="201168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504145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70432" y="5029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scale passively as each influencer's student base grows, with no added marginal cost to us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5504688"/>
            <a:ext cx="201168" cy="201168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4" name="Text 20"/>
          <p:cNvSpPr/>
          <p:nvPr/>
        </p:nvSpPr>
        <p:spPr>
          <a:xfrm>
            <a:off x="822960" y="549865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70432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Paystack enforces the split instantly — neither party can delay or withhold the other's money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first. Local checkout now. Global rails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30352" cy="530352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072030"/>
            <a:ext cx="318211" cy="318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47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Nigeria: the proving ground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08760" y="229514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Deep, active forex and crypto signal communities already thrive on Telegram and WhatsApp — with Paystack already trusted for local payments and settlement.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530352" cy="530352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3306470"/>
            <a:ext cx="318211" cy="3182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82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Africa: the natural expansion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08760" y="352958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informal-signals pattern repeats across Kenya, Ghana, South Africa, and beyond — plus a fast-growing prop firm trader base needing compliant signal delivery.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822960" y="4434840"/>
            <a:ext cx="530352" cy="530352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4540910"/>
            <a:ext cx="318211" cy="3182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16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where stablecoin rails matter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08760" y="476402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Africa, optional USDC checkout lets approved workspaces reach students without waiting on a local processor in every new country first.</a:t>
            </a:r>
            <a:endParaRPr lang="en-US" sz="1080" dirty="0"/>
          </a:p>
        </p:txBody>
      </p:sp>
      <p:sp>
        <p:nvSpPr>
          <p:cNvPr id="16" name="Text 11"/>
          <p:cNvSpPr/>
          <p:nvPr/>
        </p:nvSpPr>
        <p:spPr>
          <a:xfrm>
            <a:off x="67208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model (10% platform share)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37960" y="237744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6537960" y="5486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on Nigeria's launch market — ~150 students per workspace at a ₦15,000 average blended tier price. Directional, not a forecast.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Bigger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influencer we onboard makes the whole network more valuable — not just the revenue 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240280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2353666"/>
            <a:ext cx="340157" cy="340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9443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talent pipeline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35204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Top-performing students are already inside the network. The best ones become tomorrow's influencers — recruited from within, not from a cold start.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30168" y="19659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86200" y="2240280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586" y="235366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29443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Cross-network reach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886200" y="35204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 can opt in to reach each other's audiences — a distribution advantage no single WhatsApp group or Telegram channel can replicate alone.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9659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93408" y="2240280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794" y="2353666"/>
            <a:ext cx="340157" cy="3401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29443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market intelligence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693408" y="35204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Anonymized, opt-in performance data across thousands of students becomes a uniquely valuable, compounding dataset over time.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244584" y="19659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0616" y="2240280"/>
            <a:ext cx="566928" cy="566928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002" y="2353666"/>
            <a:ext cx="340157" cy="3401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0616" y="29443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switching costs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500616" y="35204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an influencer's brand, payments, and students all live on TradeHub, the platform becomes the business — not just a tool underneath it.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Single-influencer tools can't replicate any of this. A network like this can only be built once.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built and locally verified today.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7171B"/>
          </a:solidFill>
          <a:ln w="12700">
            <a:solidFill>
              <a:srgbClr val="D9C28C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 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91840" y="2377440"/>
            <a:ext cx="7772400" cy="91440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2377440"/>
            <a:ext cx="5052060" cy="91440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admin CRM, workspace onboarding, courses, student billing, and signal flows are all running through the real app.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37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92608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locally verified — admin, influencer, student, Paystack, and optional Solana billing all working through the real app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17920" y="294436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937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65392" y="292608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surfaces — landing, admin, workspace, student app, courses, billing, and payment ops already connected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960" y="390448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97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388620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product requirements — 6 documents covering architecture, Firebase schema, and Security Rules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90448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897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388620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design system — a premium, distinctive visual identity across every surface, light and dark mode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22960" y="486460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5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484632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policy documents drafted — Terms, Privacy, Risk Disclosure, Data Use Policy, Influencer Code of Conduct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17920" y="4864608"/>
            <a:ext cx="219456" cy="21945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85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65392" y="484632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blueprint — positioning, pilot strategy, outreach scripts, and a full launch plan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22960" y="580644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done: </a:t>
            </a:r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deployment, live ops monitoring, the first production workspaces, and payout automation beyond the current settlement-ledger model.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4 Months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local proof to deployed pilots and first paying workspaces.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304288"/>
            <a:ext cx="594360" cy="59436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15568" y="3337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Harden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37947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deploy, route QA, indexes, webhook exposure, monitoring, and billing hardening across Firebase, Paystack, and app ops.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2304288"/>
            <a:ext cx="594360" cy="59436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23160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73168" y="3337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Influencers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73168" y="37947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2–3 founding-member influencers at a discounted rate. Get real students live and gather feedback.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0768" y="2304288"/>
            <a:ext cx="594360" cy="594360"/>
          </a:xfrm>
          <a:prstGeom prst="ellipse">
            <a:avLst/>
          </a:prstGeom>
          <a:solidFill>
            <a:srgbClr val="D9C28C">
              <a:alpha val="12000"/>
            </a:srgbClr>
          </a:solidFill>
          <a:ln w="12700">
            <a:solidFill>
              <a:srgbClr val="D9C2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23160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13–16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430768" y="3337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Paying Cohort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30768" y="37947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outreach to a target list of 50 influencers. Close the first 7–10 full-price workspaces.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KIMWAY TECH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3566160"/>
          </a:xfrm>
          <a:prstGeom prst="roundRect">
            <a:avLst>
              <a:gd name="adj" fmla="val 359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377440"/>
            <a:ext cx="1371600" cy="1371600"/>
          </a:xfrm>
          <a:prstGeom prst="ellipse">
            <a:avLst/>
          </a:prstGeom>
          <a:solidFill>
            <a:srgbClr val="D9C28C">
              <a:alpha val="18000"/>
            </a:srgbClr>
          </a:solidFill>
          <a:ln w="19050">
            <a:solidFill>
              <a:srgbClr val="D9C2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2608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Kamaluddeen Suleiman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Co-Founder, KIMWAY TECH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product and platform strategy for TradeHub — from the initial architecture and Firebase data model through to the full design system and go-to-market plan behind this raise.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the KIMWAY TECH team.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up to $50,000 to deploy, harden, and move TradeHub to first paying workspaces.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228600" dist="762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2883" y="2583180"/>
            <a:ext cx="524866" cy="411480"/>
          </a:xfrm>
          <a:prstGeom prst="roundRect">
            <a:avLst>
              <a:gd name="adj" fmla="val 6667"/>
            </a:avLst>
          </a:prstGeom>
          <a:solidFill>
            <a:srgbClr val="D9C28C"/>
          </a:solidFill>
          <a:ln/>
        </p:spPr>
      </p:sp>
      <p:sp>
        <p:nvSpPr>
          <p:cNvPr id="6" name="Text 4"/>
          <p:cNvSpPr/>
          <p:nvPr/>
        </p:nvSpPr>
        <p:spPr>
          <a:xfrm>
            <a:off x="1122883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2883" y="31318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$50,000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22883" y="42291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SAFE or equivalent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2883" y="45491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allocations from $5,000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infrastructure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2807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hardening, deployment, monitoring, and billing reliability across the live stack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13639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313639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3291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influencer acquisition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77840" y="3584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Founding-member onboarding support &amp; incentives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91363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3913632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4069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77840" y="43616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review, Nigeria-specific regulatory guidance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469087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4690872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4846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brand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77840" y="51389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the locked design system across the full build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546811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30" name="Shape 28"/>
          <p:cNvSpPr/>
          <p:nvPr/>
        </p:nvSpPr>
        <p:spPr>
          <a:xfrm>
            <a:off x="5577840" y="5468112"/>
            <a:ext cx="1280160" cy="54864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5623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77840" y="5623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buffer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77840" y="59161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cushion through the first paying cohort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6245352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A2A30"/>
          </a:solidFill>
          <a:ln/>
        </p:spPr>
      </p:sp>
      <p:sp>
        <p:nvSpPr>
          <p:cNvPr id="35" name="Shape 33"/>
          <p:cNvSpPr/>
          <p:nvPr/>
        </p:nvSpPr>
        <p:spPr>
          <a:xfrm>
            <a:off x="5577840" y="6245352"/>
            <a:ext cx="1280160" cy="54864"/>
          </a:xfrm>
          <a:prstGeom prst="roundRect">
            <a:avLst>
              <a:gd name="adj" fmla="val 50000"/>
            </a:avLst>
          </a:prstGeom>
          <a:solidFill>
            <a:srgbClr val="D9C28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rails behind trading education.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 turns informal trading influence into a branded, payment-backed, multi-tenant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50292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06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Idris Suleiman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Builder, TradeHub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email / phone on request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03920" y="146304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1F1F24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228600" dist="762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30691" y="2013509"/>
            <a:ext cx="396850" cy="471830"/>
          </a:xfrm>
          <a:prstGeom prst="roundRect">
            <a:avLst>
              <a:gd name="adj" fmla="val 6912"/>
            </a:avLst>
          </a:prstGeom>
          <a:solidFill>
            <a:srgbClr val="D9C28C"/>
          </a:solidFill>
          <a:ln/>
        </p:spPr>
      </p:sp>
      <p:sp>
        <p:nvSpPr>
          <p:cNvPr id="8" name="Text 6"/>
          <p:cNvSpPr/>
          <p:nvPr/>
        </p:nvSpPr>
        <p:spPr>
          <a:xfrm>
            <a:off x="8730691" y="20528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FX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30691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C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691" y="36255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0691" y="39401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XAUUSD · BUY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30691" y="4608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2310.50  →  TP 2340.00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TradeHub — Investor Pitch</dc:title>
  <dc:subject>PptxGenJS Presentation</dc:subject>
  <dc:creator>Kamaluddeen Suleiman</dc:creator>
  <cp:lastModifiedBy>Kamaluddeen Suleiman</cp:lastModifiedBy>
  <cp:revision>1</cp:revision>
  <dcterms:created xsi:type="dcterms:W3CDTF">2026-07-07T19:40:53Z</dcterms:created>
  <dcterms:modified xsi:type="dcterms:W3CDTF">2026-07-07T19:40:53Z</dcterms:modified>
</cp:coreProperties>
</file>